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c3482ad01846e5" /><Relationship Type="http://schemas.openxmlformats.org/officeDocument/2006/relationships/extended-properties" Target="/docProps/app.xml" Id="R8b4f3737fe6f4423" /><Relationship Type="http://schemas.openxmlformats.org/officeDocument/2006/relationships/officeDocument" Target="/ppt/presentation.xml" Id="R5daec897e49c4c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0b7d4156f74be2"/>
  </p:sldMasterIdLst>
  <p:notesMasterIdLst>
    <p:notesMasterId xmlns:r="http://schemas.openxmlformats.org/officeDocument/2006/relationships" r:id="Rfdec5a88fa444b6e"/>
  </p:notesMasterIdLst>
  <p:sldIdLst>
    <p:sldId xmlns:r="http://schemas.openxmlformats.org/officeDocument/2006/relationships" id="256" r:id="R6993ede7c7e44633"/>
    <p:sldId xmlns:r="http://schemas.openxmlformats.org/officeDocument/2006/relationships" id="257" r:id="Rd47b353c7cce4b48"/>
    <p:sldId xmlns:r="http://schemas.openxmlformats.org/officeDocument/2006/relationships" id="258" r:id="Re8edf15026ac4993"/>
    <p:sldId xmlns:r="http://schemas.openxmlformats.org/officeDocument/2006/relationships" id="259" r:id="Rba2b7b0aabc541fd"/>
    <p:sldId xmlns:r="http://schemas.openxmlformats.org/officeDocument/2006/relationships" id="260" r:id="R1e39989c59734f74"/>
    <p:sldId xmlns:r="http://schemas.openxmlformats.org/officeDocument/2006/relationships" id="261" r:id="R3a4c1e87208f494c"/>
    <p:sldId xmlns:r="http://schemas.openxmlformats.org/officeDocument/2006/relationships" id="262" r:id="R2f06e43b8e034f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89104b1a5d4736" /><Relationship Type="http://schemas.openxmlformats.org/officeDocument/2006/relationships/slideMaster" Target="/ppt/slideMasters/slideMaster1.xml" Id="R230b7d4156f74be2" /><Relationship Type="http://schemas.openxmlformats.org/officeDocument/2006/relationships/notesMaster" Target="/ppt/notesMasters/notesMaster1.xml" Id="Rfdec5a88fa444b6e" /><Relationship Type="http://schemas.openxmlformats.org/officeDocument/2006/relationships/presProps" Target="/ppt/presProps.xml" Id="Rb6f695f9d3d84023" /><Relationship Type="http://schemas.openxmlformats.org/officeDocument/2006/relationships/tableStyles" Target="/ppt/tableStyles.xml" Id="R7ece53a374e94ac9" /><Relationship Type="http://schemas.openxmlformats.org/officeDocument/2006/relationships/slide" Target="/ppt/slides/slide1.xml" Id="R6993ede7c7e44633" /><Relationship Type="http://schemas.openxmlformats.org/officeDocument/2006/relationships/slide" Target="/ppt/slides/slide2.xml" Id="Rd47b353c7cce4b48" /><Relationship Type="http://schemas.openxmlformats.org/officeDocument/2006/relationships/slide" Target="/ppt/slides/slide3.xml" Id="Re8edf15026ac4993" /><Relationship Type="http://schemas.openxmlformats.org/officeDocument/2006/relationships/slide" Target="/ppt/slides/slide4.xml" Id="Rba2b7b0aabc541fd" /><Relationship Type="http://schemas.openxmlformats.org/officeDocument/2006/relationships/slide" Target="/ppt/slides/slide5.xml" Id="R1e39989c59734f74" /><Relationship Type="http://schemas.openxmlformats.org/officeDocument/2006/relationships/slide" Target="/ppt/slides/slide6.xml" Id="R3a4c1e87208f494c" /><Relationship Type="http://schemas.openxmlformats.org/officeDocument/2006/relationships/slide" Target="/ppt/slides/slide7.xml" Id="R2f06e43b8e034f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3c505f2f2842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9ebefe3e594a82" /><Relationship Type="http://schemas.openxmlformats.org/officeDocument/2006/relationships/notesMaster" Target="/ppt/notesMasters/notesMaster1.xml" Id="R269deac93dc240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49b41a903e4c91" /><Relationship Type="http://schemas.openxmlformats.org/officeDocument/2006/relationships/notesMaster" Target="/ppt/notesMasters/notesMaster1.xml" Id="R80a0fa5c261241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f124298e2e41bc" /><Relationship Type="http://schemas.openxmlformats.org/officeDocument/2006/relationships/notesMaster" Target="/ppt/notesMasters/notesMaster1.xml" Id="R53f0d7b1bbc246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1bfcffd736417f" /><Relationship Type="http://schemas.openxmlformats.org/officeDocument/2006/relationships/notesMaster" Target="/ppt/notesMasters/notesMaster1.xml" Id="R09c0b8f22ef64a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26a83789904b31" /><Relationship Type="http://schemas.openxmlformats.org/officeDocument/2006/relationships/notesMaster" Target="/ppt/notesMasters/notesMaster1.xml" Id="R6e7a61fe41b043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1d178ba45d457b" /><Relationship Type="http://schemas.openxmlformats.org/officeDocument/2006/relationships/notesMaster" Target="/ppt/notesMasters/notesMaster1.xml" Id="R67ec2a04334c41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268cdfc0bb4ae0" /><Relationship Type="http://schemas.openxmlformats.org/officeDocument/2006/relationships/notesMaster" Target="/ppt/notesMasters/notesMaster1.xml" Id="R5ff8686959e849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implementation brief. Artwork generated with OpenAI image generation. Static analysis cannot establish safety.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Intended consumer scenario. No measured adoption or fraud-reduction claims. Hindi permission explanations are implemented in scanner/evaluation.json. Artwork is a generated illustration, not a photograph of a real event.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Android apksigner documentation https://developer.android.com/tools/apksigner . Arkiv system attributes and creator filtering https://docs.arkiv.network/typescript-sdk/querying-data/ . The project uses a documented reviewer allowlist; blockchain authorship alone does not establish reviewer expertise.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Arkiv network fundamentals https://docs.arkiv.network/start-here/fundamentals/ . This describes existing public-record reads independent of the ScamSignal analysis backend. New scans still require analysis service availability. Artwork is generated.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scanner/evaluation.json and scanner/live-evaluation.json. Androguard 4.1.4 and Android Build Tools 35.0.0. All twelve files were statically inspected through the live scanner; no app was installed or executed. Sources: https://github.com/Kunzisoft/KeePassDX/releases/tag/4.5.5</a:t>
            </a:r>
          </a:p>
          <a:p xmlns:a="http://schemas.openxmlformats.org/drawingml/2006/main">
            <a:r>
              <a:t>https://github.com/beemdevelopment/Aegis/releases/tag/v3.4.3</a:t>
            </a:r>
          </a:p>
          <a:p xmlns:a="http://schemas.openxmlformats.org/drawingml/2006/main">
            <a:r>
              <a:t>https://github.com/TeamNewPipe/NewPipe/releases/tag/v0.29.1</a:t>
            </a:r>
          </a:p>
          <a:p xmlns:a="http://schemas.openxmlformats.org/drawingml/2006/main">
            <a:r>
              <a:t>https://github.com/FossifyOrg/Calculator/releases/tag/1.4.0</a:t>
            </a:r>
          </a:p>
          <a:p xmlns:a="http://schemas.openxmlformats.org/drawingml/2006/main">
            <a:r>
              <a:t>https://github.com/FossifyOrg/File-Manager/releases/tag/1.6.2</a:t>
            </a:r>
          </a:p>
          <a:p xmlns:a="http://schemas.openxmlformats.org/drawingml/2006/main">
            <a:r>
              <a:t>https://github.com/dineshshetty/Android-InsecureBankv2/tree/3c8cc3a3ce45ed56d0f58f236b541b41f992e51f</a:t>
            </a:r>
          </a:p>
          <a:p xmlns:a="http://schemas.openxmlformats.org/drawingml/2006/main">
            <a:r>
              <a:t>https://github.com/HTBridge/pivaa/tree/7fde8956083ec4c6023c75f013f72023d60eda12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Malicious classification comes from primary ESET/Lookout research and exact published IOCs; static capability flags are not sufficient on their own. Fake BtcTurk exact MD5 336ce9cdf788228a71a3757558faa012; ESET https://www.welivesecurity.com/2019/06/17/malware-google-permissions-2fa-bypass/ . Source-backed historical advisories are project-reviewer records, not official authority endorsements. Evidence: https://github.com/sk3ptre/AndroidMalware_2019/blob/eef650faedacb06f11a778fb1e3a18bae4e5af36/README.md https://github.com/securitywithoutborders/website/blob/f5d6c338a4dd373720dcaea2b138250fce6b3bb5/source/blog/posts/2019-03-29-exodus.html.markdown https://github.com/sk3ptre/AndroidMalware_2019/blob/eef650faedacb06f11a778fb1e3a18bae4e5af36/README.md</a:t>
            </a:r>
          </a:p>
          <a:p xmlns:a="http://schemas.openxmlformats.org/drawingml/2006/main">
            <a:r>
              <a:t>https://github.com/sk3ptre/AndroidMalware_2019/blob/eef650faedacb06f11a778fb1e3a18bae4e5af36/README.md https://www.welivesecurity.com/2019/02/08/first-clipper-malware-google-play/ https://github.com/sk3ptre/AndroidMalware_2019/blob/eef650faedacb06f11a778fb1e3a18bae4e5af36/README.md</a:t>
            </a:r>
          </a:p>
          <a:p xmlns:a="http://schemas.openxmlformats.org/drawingml/2006/main">
            <a:r>
              <a:t>https://github.com/sk3ptre/AndroidMalware_2019/blob/eef650faedacb06f11a778fb1e3a18bae4e5af36/README.md https://www.welivesecurity.com/2019/06/17/malware-google-permissions-2fa-bypass/ https://github.com/sk3ptre/AndroidMalware_2019/blob/eef650faedacb06f11a778fb1e3a18bae4e5af36/README.md</a:t>
            </a:r>
          </a:p>
          <a:p xmlns:a="http://schemas.openxmlformats.org/drawingml/2006/main">
            <a:r>
              <a:t>https://github.com/sk3ptre/AndroidMalware_2019/blob/eef650faedacb06f11a778fb1e3a18bae4e5af36/README.md https://www.welivesecurity.com/2019/06/17/malware-google-permissions-2fa-bypass/ https://github.com/sk3ptre/AndroidMalware_2019/blob/eef650faedacb06f11a778fb1e3a18bae4e5af36/README.md</a:t>
            </a:r>
          </a:p>
          <a:p xmlns:a="http://schemas.openxmlformats.org/drawingml/2006/main">
            <a:r>
              <a:t>https://github.com/sk3ptre/AndroidMalware_2019/blob/eef650faedacb06f11a778fb1e3a18bae4e5af36/README.md https://www.welivesecurity.com/2019/06/17/malware-google-permissions-2fa-bypass/ https://github.com/sk3ptre/AndroidMalware_2019/blob/eef650faedacb06f11a778fb1e3a18bae4e5af36/README.md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limitations are derived from the scanner coverage in scanner/evaluation.json. No detection-accuracy claim. Public records remain readable independently of our analysis backend when Arkiv is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ea4483f9a4e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18b94109274e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97c13bd3e4e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f14a8c1fed4b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6cc0dcbb8c4a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4209274e146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0D9718-A663-43EC-83E7-A9FA5DB9A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708015-2BD9-46F3-A725-A067546A36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9E975D-42D7-4C34-89FC-880FED9DFF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6618EB-3FFD-431A-A679-4A3C1AC340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406086-58A5-474D-8999-A22C33D861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2F869E-DDA1-41AC-8628-237138D82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8B34CA-FE7F-4094-A009-245FE89BC2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947A087-3CA8-45FF-95B1-26EAD7F1E1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21C2F2-4663-42ED-BCA0-4A11756CA7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2E2608-5C4A-4C13-8319-BE771A317F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e2f882093c4a10" /><Relationship Type="http://schemas.openxmlformats.org/officeDocument/2006/relationships/slideLayout" Target="/ppt/slideLayouts/slideLayout1.xml" Id="Rcb849498ca4945da" /><Relationship Type="http://schemas.openxmlformats.org/officeDocument/2006/relationships/slideLayout" Target="/ppt/slideLayouts/slideLayout2.xml" Id="R1321b15225f44324" /><Relationship Type="http://schemas.openxmlformats.org/officeDocument/2006/relationships/slideLayout" Target="/ppt/slideLayouts/slideLayout3.xml" Id="R6f1417ba3e464e22" /><Relationship Type="http://schemas.openxmlformats.org/officeDocument/2006/relationships/slideLayout" Target="/ppt/slideLayouts/slideLayout4.xml" Id="Raba9a14745d0478f" /><Relationship Type="http://schemas.openxmlformats.org/officeDocument/2006/relationships/slideLayout" Target="/ppt/slideLayouts/slideLayout5.xml" Id="Rafb8e5c85ada4f2d" /><Relationship Type="http://schemas.openxmlformats.org/officeDocument/2006/relationships/slideLayout" Target="/ppt/slideLayouts/slideLayout6.xml" Id="Rdff86d92bb2a42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849498ca4945da"/>
    <p:sldLayoutId xmlns:r="http://schemas.openxmlformats.org/officeDocument/2006/relationships" id="2147483650" r:id="R1321b15225f44324"/>
    <p:sldLayoutId xmlns:r="http://schemas.openxmlformats.org/officeDocument/2006/relationships" id="2147483651" r:id="R6f1417ba3e464e22"/>
    <p:sldLayoutId xmlns:r="http://schemas.openxmlformats.org/officeDocument/2006/relationships" id="2147483652" r:id="Raba9a14745d0478f"/>
    <p:sldLayoutId xmlns:r="http://schemas.openxmlformats.org/officeDocument/2006/relationships" id="2147483653" r:id="Rafb8e5c85ada4f2d"/>
    <p:sldLayoutId xmlns:r="http://schemas.openxmlformats.org/officeDocument/2006/relationships" id="2147483654" r:id="Rdff86d92bb2a42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e8f3115e0344b8" /><Relationship Type="http://schemas.openxmlformats.org/officeDocument/2006/relationships/image" Target="/ppt/media/image.png" Id="R100555e4a5cc470e" /><Relationship Type="http://schemas.openxmlformats.org/officeDocument/2006/relationships/image" Target="/ppt/media/image2.png" Id="R4ac4b3f438114e8b" /><Relationship Type="http://schemas.openxmlformats.org/officeDocument/2006/relationships/notesSlide" Target="/ppt/notesSlides/notesSlide1.xml" Id="R08a10ab036d14b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c64ddb8eaa40f7" /><Relationship Type="http://schemas.openxmlformats.org/officeDocument/2006/relationships/image" Target="/ppt/media/image3.png" Id="R2a127a3683534711" /><Relationship Type="http://schemas.openxmlformats.org/officeDocument/2006/relationships/notesSlide" Target="/ppt/notesSlides/notesSlide2.xml" Id="R330d2253365b4c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18f63440eb4796" /><Relationship Type="http://schemas.openxmlformats.org/officeDocument/2006/relationships/notesSlide" Target="/ppt/notesSlides/notesSlide3.xml" Id="R6604ffe5e8ec40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6e267b1c34abd" /><Relationship Type="http://schemas.openxmlformats.org/officeDocument/2006/relationships/image" Target="/ppt/media/image4.png" Id="Rcd53add2adb94afe" /><Relationship Type="http://schemas.openxmlformats.org/officeDocument/2006/relationships/notesSlide" Target="/ppt/notesSlides/notesSlide4.xml" Id="Rd128ef28da1047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92c6b4d1cd4f18" /><Relationship Type="http://schemas.openxmlformats.org/officeDocument/2006/relationships/notesSlide" Target="/ppt/notesSlides/notesSlide5.xml" Id="Rd2a624ce11dd43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18474777dc4672" /><Relationship Type="http://schemas.openxmlformats.org/officeDocument/2006/relationships/notesSlide" Target="/ppt/notesSlides/notesSlide6.xml" Id="Rf8751c99fc054f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8973a90d4a4e30" /><Relationship Type="http://schemas.openxmlformats.org/officeDocument/2006/relationships/notesSlide" Target="/ppt/notesSlides/notesSlide7.xml" Id="Re369eced70724c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2932F-C098-4414-98ED-14A9D19313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555e4a5cc470e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445EB-6ED4-4F66-8CE9-A3DC099E15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4b3f438114e8b"/>
          <a:stretch xmlns:a="http://schemas.openxmlformats.org/drawingml/2006/main"/>
        </p:blipFill>
        <p:spPr>
          <a:xfrm xmlns:a="http://schemas.openxmlformats.org/drawingml/2006/main">
            <a:off x="628650" y="476250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58440-9451-49B4-A1FB-B7B143CE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81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550" b="0">
                <a:solidFill>
                  <a:srgbClr val="17634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5550" b="0">
                <a:solidFill>
                  <a:srgbClr val="17634C"/>
                </a:solidFill>
                <a:latin typeface="Georgia"/>
                <a:ea typeface="Georgia"/>
                <a:cs typeface="Georgia"/>
              </a:defRPr>
            </a:pPr>
            <a:r>
              <a:rPr sz="5550" b="0">
                <a:solidFill>
                  <a:srgbClr val="17634C"/>
                </a:solidFill>
                <a:latin typeface="Georgia"/>
                <a:ea typeface="Georgia"/>
                <a:cs typeface="Georgia"/>
              </a:rPr>
              <a:t>ScamSignal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60719-4EA0-4360-B601-1864ADC4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5429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0">
                <a:solidFill>
                  <a:srgbClr val="112D2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12D24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12D24"/>
                </a:solidFill>
                <a:latin typeface="Georgia"/>
                <a:ea typeface="Georgia"/>
                <a:cs typeface="Georgia"/>
              </a:rPr>
              <a:t>+ AppPassport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CD48F-1CB5-4A06-8A71-9E36CF3F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4572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12D24"/>
                </a:solidFill>
                <a:latin typeface="Arial"/>
                <a:ea typeface="Arial"/>
                <a:cs typeface="Arial"/>
              </a:rPr>
              <a:t>Understand an APK</a:t>
            </a:r>
          </a:p>
          <a:p xmlns:a="http://schemas.openxmlformats.org/drawingml/2006/main">
            <a:pPr>
              <a:defRPr sz="2850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12D24"/>
                </a:solidFill>
                <a:latin typeface="Arial"/>
                <a:ea typeface="Arial"/>
                <a:cs typeface="Arial"/>
              </a:rPr>
              <a:t>before installing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93918-E89B-4D42-861C-2DC29A5D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91225"/>
            <a:ext cx="714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866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866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65A"/>
                </a:solidFill>
                <a:latin typeface="Arial"/>
                <a:ea typeface="Arial"/>
                <a:cs typeface="Arial"/>
              </a:rPr>
              <a:t>Android APK analysis with shared public evidence</a:t>
            </a:r>
          </a:p>
        </p:txBody>
      </p:sp>
    </p:spTree>
    <p:extLst>
      <p:ext uri="{BB962C8B-B14F-4D97-AF65-F5344CB8AC3E}">
        <p14:creationId xmlns:p14="http://schemas.microsoft.com/office/powerpoint/2010/main" val="1336316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C6675-D4B4-4DCF-8DCB-ED7B078008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27a368353471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30501-D9F5-4ED3-A4D2-E569FBD6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714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0">
                <a:solidFill>
                  <a:srgbClr val="17634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050" b="0">
                <a:solidFill>
                  <a:srgbClr val="17634C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17634C"/>
                </a:solidFill>
                <a:latin typeface="Georgia"/>
                <a:ea typeface="Georgia"/>
                <a:cs typeface="Georgia"/>
              </a:rPr>
              <a:t>A useful pause</a:t>
            </a:r>
          </a:p>
          <a:p xmlns:a="http://schemas.openxmlformats.org/drawingml/2006/main">
            <a:pPr>
              <a:defRPr sz="4050" b="0">
                <a:solidFill>
                  <a:srgbClr val="17634C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17634C"/>
                </a:solidFill>
                <a:latin typeface="Georgia"/>
                <a:ea typeface="Georgia"/>
                <a:cs typeface="Georgia"/>
              </a:rPr>
              <a:t>for India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BEBC0-42E9-4428-A3E9-0FAE6494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42005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D24"/>
                </a:solidFill>
                <a:latin typeface="Arial"/>
                <a:ea typeface="Arial"/>
                <a:cs typeface="Arial"/>
              </a:rPr>
              <a:t>Someone sends you an APK.</a:t>
            </a:r>
          </a:p>
          <a:p xmlns:a="http://schemas.openxmlformats.org/drawingml/2006/main">
            <a:pPr>
              <a:defRPr sz="2100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D24"/>
                </a:solidFill>
                <a:latin typeface="Arial"/>
                <a:ea typeface="Arial"/>
                <a:cs typeface="Arial"/>
              </a:rPr>
              <a:t>You want evidence before installing.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15AA8-C89A-4CF8-BBDF-6202753B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763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634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34C"/>
                </a:solidFill>
                <a:latin typeface="Arial"/>
                <a:ea typeface="Arial"/>
                <a:cs typeface="Arial"/>
              </a:rPr>
              <a:t>Upload from your phone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EE4A6-B52A-4854-BD58-0B561FE1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42576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2D24"/>
                </a:solidFill>
                <a:latin typeface="Arial"/>
                <a:ea typeface="Arial"/>
                <a:cs typeface="Arial"/>
              </a:rPr>
              <a:t>Read signature and permission findings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BD751-1AF7-429C-980D-6709F188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4181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2D24"/>
                </a:solidFill>
                <a:latin typeface="Arial"/>
                <a:ea typeface="Arial"/>
                <a:cs typeface="Arial"/>
              </a:rPr>
              <a:t>Compare the release and review warnings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18620-AD5A-4BAB-BF0B-B17ABE1E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2D24"/>
                </a:solidFill>
                <a:latin typeface="Arial"/>
                <a:ea typeface="Arial"/>
                <a:cs typeface="Arial"/>
              </a:rPr>
              <a:t>English + Hindi. No wallet or fee.</a:t>
            </a:r>
          </a:p>
        </p:txBody>
      </p:sp>
    </p:spTree>
    <p:extLst>
      <p:ext uri="{BB962C8B-B14F-4D97-AF65-F5344CB8AC3E}">
        <p14:creationId xmlns:p14="http://schemas.microsoft.com/office/powerpoint/2010/main" val="1825840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63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4DC99-CCE3-48A9-9DA7-3FFBB1E3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0">
                <a:solidFill>
                  <a:srgbClr val="F3F2E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900" b="0">
                <a:solidFill>
                  <a:srgbClr val="F3F2E9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F3F2E9"/>
                </a:solidFill>
                <a:latin typeface="Georgia"/>
                <a:ea typeface="Georgia"/>
                <a:cs typeface="Georgia"/>
              </a:rPr>
              <a:t>Evidence has different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3BB0F-64E8-4692-86FB-92B986DF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572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0">
                <a:solidFill>
                  <a:srgbClr val="F3F2E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F3F2E9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F3F2E9"/>
                </a:solidFill>
                <a:latin typeface="Georgia"/>
                <a:ea typeface="Georgia"/>
                <a:cs typeface="Georgia"/>
              </a:rPr>
              <a:t>APK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AA8B7-0B1C-4EFB-8EAE-BA09E28A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4476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F3F2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F2E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2E9"/>
                </a:solidFill>
                <a:latin typeface="Arial"/>
                <a:ea typeface="Arial"/>
                <a:cs typeface="Arial"/>
              </a:rPr>
              <a:t>Verify the signature. Compare the file hash and signing identity with a reviewed artifact reference.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B2A85-FC98-42B3-BF4A-CF7A3DD6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667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0">
                <a:solidFill>
                  <a:srgbClr val="F3F2E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F3F2E9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F3F2E9"/>
                </a:solidFill>
                <a:latin typeface="Georgia"/>
                <a:ea typeface="Georgia"/>
                <a:cs typeface="Georgia"/>
              </a:rPr>
              <a:t>Warning authorship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6F5E8-6A67-45F8-85AC-EAE2F64D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33700"/>
            <a:ext cx="44481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F3F2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F2E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2E9"/>
                </a:solidFill>
                <a:latin typeface="Arial"/>
                <a:ea typeface="Arial"/>
                <a:cs typeface="Arial"/>
              </a:rPr>
              <a:t>Check the Arkiv record’s actual wallet creator against the reviewer policy. A copied name earns no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BC38A-59BD-4F37-B275-6650675B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3F2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3F2E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3F2E9"/>
                </a:solidFill>
                <a:latin typeface="Arial"/>
                <a:ea typeface="Arial"/>
                <a:cs typeface="Arial"/>
              </a:rPr>
              <a:t>A valid signature does not establish safety</a:t>
            </a:r>
          </a:p>
        </p:txBody>
      </p:sp>
    </p:spTree>
    <p:extLst>
      <p:ext uri="{BB962C8B-B14F-4D97-AF65-F5344CB8AC3E}">
        <p14:creationId xmlns:p14="http://schemas.microsoft.com/office/powerpoint/2010/main" val="384189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FDF64-A1C7-454F-8573-80A7AE6043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3add2adb94af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55B78-A2F4-443A-8F06-0A24E47E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561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0">
                <a:solidFill>
                  <a:srgbClr val="17634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200" b="0">
                <a:solidFill>
                  <a:srgbClr val="17634C"/>
                </a:solidFill>
                <a:latin typeface="Georgia"/>
                <a:ea typeface="Georgia"/>
                <a:cs typeface="Georgia"/>
              </a:defRPr>
            </a:pPr>
            <a:r>
              <a:rPr sz="4200" b="0">
                <a:solidFill>
                  <a:srgbClr val="17634C"/>
                </a:solidFill>
                <a:latin typeface="Georgia"/>
                <a:ea typeface="Georgia"/>
                <a:cs typeface="Georgia"/>
              </a:rPr>
              <a:t>Useful beyond</a:t>
            </a:r>
          </a:p>
          <a:p xmlns:a="http://schemas.openxmlformats.org/drawingml/2006/main">
            <a:pPr>
              <a:defRPr sz="4200" b="0">
                <a:solidFill>
                  <a:srgbClr val="17634C"/>
                </a:solidFill>
                <a:latin typeface="Georgia"/>
                <a:ea typeface="Georgia"/>
                <a:cs typeface="Georgia"/>
              </a:defRPr>
            </a:pPr>
            <a:r>
              <a:rPr sz="4200" b="0">
                <a:solidFill>
                  <a:srgbClr val="17634C"/>
                </a:solidFill>
                <a:latin typeface="Georgia"/>
                <a:ea typeface="Georgia"/>
                <a:cs typeface="Georgia"/>
              </a:rPr>
              <a:t>one website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CBE95-B767-460C-AB96-E316C737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333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D24"/>
                </a:solidFill>
                <a:latin typeface="Arial"/>
                <a:ea typeface="Arial"/>
                <a:cs typeface="Arial"/>
              </a:rPr>
              <a:t>19 public records:</a:t>
            </a:r>
          </a:p>
          <a:p xmlns:a="http://schemas.openxmlformats.org/drawingml/2006/main">
            <a:pPr>
              <a:defRPr sz="2175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D24"/>
                </a:solidFill>
                <a:latin typeface="Arial"/>
                <a:ea typeface="Arial"/>
                <a:cs typeface="Arial"/>
              </a:rPr>
              <a:t>12 artifact references + 7 warnings.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509D9-362B-492B-8709-87102210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524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D24"/>
                </a:solidFill>
                <a:latin typeface="Arial"/>
                <a:ea typeface="Arial"/>
                <a:cs typeface="Arial"/>
              </a:rPr>
              <a:t>Independent clients can read</a:t>
            </a:r>
          </a:p>
          <a:p xmlns:a="http://schemas.openxmlformats.org/drawingml/2006/main">
            <a:pPr>
              <a:defRPr sz="2250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D24"/>
                </a:solidFill>
                <a:latin typeface="Arial"/>
                <a:ea typeface="Arial"/>
                <a:cs typeface="Arial"/>
              </a:rPr>
              <a:t>the same author-checked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001EE-FAD3-40D6-9855-634FF52F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4772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866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8665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65A"/>
                </a:solidFill>
                <a:latin typeface="Arial"/>
                <a:ea typeface="Arial"/>
                <a:cs typeface="Arial"/>
              </a:rPr>
              <a:t>Raw APK uploads stay outside Arkiv.</a:t>
            </a:r>
          </a:p>
        </p:txBody>
      </p:sp>
    </p:spTree>
    <p:extLst>
      <p:ext uri="{BB962C8B-B14F-4D97-AF65-F5344CB8AC3E}">
        <p14:creationId xmlns:p14="http://schemas.microsoft.com/office/powerpoint/2010/main" val="880631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09E81-1B3E-471B-8ED4-7522A955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750" b="0">
                <a:solidFill>
                  <a:srgbClr val="17634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750" b="0">
                <a:solidFill>
                  <a:srgbClr val="17634C"/>
                </a:solidFill>
                <a:latin typeface="Georgia"/>
                <a:ea typeface="Georgia"/>
                <a:cs typeface="Georgia"/>
              </a:defRPr>
            </a:pPr>
            <a:r>
              <a:rPr sz="3750" b="0">
                <a:solidFill>
                  <a:srgbClr val="17634C"/>
                </a:solidFill>
                <a:latin typeface="Georgia"/>
                <a:ea typeface="Georgia"/>
                <a:cs typeface="Georgia"/>
              </a:rPr>
              <a:t>Twelve measured APKs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8D86A-58ED-4808-BEC7-D235B9DE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12D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12D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2D24"/>
                </a:solidFill>
                <a:latin typeface="Arial"/>
                <a:ea typeface="Arial"/>
                <a:cs typeface="Arial"/>
              </a:rPr>
              <a:t>5 upstream releases · 5 documented malicious · 2 training controls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9EDD6-7E11-4491-84D3-7E83504FE713}"/>
              </a:ext>
            </a:extLst>
          </p:cNvPr>
          <p:cNvGraphicFramePr/>
          <p:nvPr/>
        </p:nvGraphicFramePr>
        <p:xfrm>
          <a:off xmlns:a="http://schemas.openxmlformats.org/drawingml/2006/main" x="723900" y="2209800"/>
          <a:ext xmlns:a="http://schemas.openxmlformats.org/drawingml/2006/main" cx="106680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619250"/>
                <a:gridCol w="6096000"/>
              </a:tblGrid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2E9"/>
                          </a:solidFill>
                          <a:latin typeface="Arial"/>
                          <a:ea typeface="Arial"/>
                          <a:cs typeface="Arial"/>
                        </a:rPr>
                        <a:t>Application</a:t>
                      </a:r>
                    </a:p>
                  </a:txBody>
                  <a:tcPr marL="142875" marR="142875" marT="28575" marB="28575">
                    <a:solidFill>
                      <a:srgbClr val="1763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2E9"/>
                          </a:solidFill>
                          <a:latin typeface="Arial"/>
                          <a:ea typeface="Arial"/>
                          <a:cs typeface="Arial"/>
                        </a:rPr>
                        <a:t>Permissions</a:t>
                      </a:r>
                    </a:p>
                  </a:txBody>
                  <a:tcPr marL="142875" marR="142875" marT="28575" marB="28575">
                    <a:solidFill>
                      <a:srgbClr val="1763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2E9"/>
                          </a:solidFill>
                          <a:latin typeface="Arial"/>
                          <a:ea typeface="Arial"/>
                          <a:cs typeface="Arial"/>
                        </a:rPr>
                        <a:t>Source context</a:t>
                      </a:r>
                    </a:p>
                  </a:txBody>
                  <a:tcPr marL="142875" marR="142875" marT="28575" marB="28575">
                    <a:solidFill>
                      <a:srgbClr val="17634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KeePassDX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Upstream open source release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Aegis</a:t>
                      </a:r>
                    </a:p>
                  </a:txBody>
                  <a:tcPr marL="142875" marR="142875" marT="28575" marB="28575"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42875" marR="142875" marT="28575" marB="28575"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Upstream open source release</a:t>
                      </a:r>
                    </a:p>
                  </a:txBody>
                  <a:tcPr marL="142875" marR="142875" marT="28575" marB="28575">
                    <a:solidFill>
                      <a:srgbClr val="E5EFE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NewPipe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Upstream open source release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Fossify Calculator</a:t>
                      </a:r>
                    </a:p>
                  </a:txBody>
                  <a:tcPr marL="142875" marR="142875" marT="28575" marB="28575"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42875" marR="142875" marT="28575" marB="28575"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Upstream open source release</a:t>
                      </a:r>
                    </a:p>
                  </a:txBody>
                  <a:tcPr marL="142875" marR="142875" marT="28575" marB="28575">
                    <a:solidFill>
                      <a:srgbClr val="E5EFE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Fossify File Manager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Upstream open source release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InsecureBankv2</a:t>
                      </a:r>
                    </a:p>
                  </a:txBody>
                  <a:tcPr marL="142875" marR="142875" marT="28575" marB="28575"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42875" marR="142875" marT="28575" marB="28575"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Intentionally insecure training app</a:t>
                      </a:r>
                    </a:p>
                  </a:txBody>
                  <a:tcPr marL="142875" marR="142875" marT="28575" marB="28575">
                    <a:solidFill>
                      <a:srgbClr val="E5EFE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PIVAA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Intentionally insecure training app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64A34-8563-4FA1-A4FA-8EB58A84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4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4866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866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8665A"/>
                </a:solidFill>
                <a:latin typeface="Arial"/>
                <a:ea typeface="Arial"/>
                <a:cs typeface="Arial"/>
              </a:rPr>
              <a:t>Training controls are deliberately vulnerable, not confirmed scams.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3DEE9-B430-4CB6-A028-1D173EEA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53175"/>
            <a:ext cx="1064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12D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D24"/>
                </a:solidFill>
                <a:latin typeface="Arial"/>
                <a:ea typeface="Arial"/>
                <a:cs typeface="Arial"/>
              </a:rPr>
              <a:t>All twelve APK signatures verified. Identity is only one piece of evidence.</a:t>
            </a:r>
          </a:p>
        </p:txBody>
      </p:sp>
    </p:spTree>
    <p:extLst>
      <p:ext uri="{BB962C8B-B14F-4D97-AF65-F5344CB8AC3E}">
        <p14:creationId xmlns:p14="http://schemas.microsoft.com/office/powerpoint/2010/main" val="20559494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BDC04-4919-4964-A3D5-63032768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75" b="0">
                <a:solidFill>
                  <a:srgbClr val="17634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17634C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17634C"/>
                </a:solidFill>
                <a:latin typeface="Georgia"/>
                <a:ea typeface="Georgia"/>
                <a:cs typeface="Georgia"/>
              </a:rPr>
              <a:t>Signed can still be malicious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B8CB5-9557-47D6-9A3D-3B853438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12D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12D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2D24"/>
                </a:solidFill>
                <a:latin typeface="Arial"/>
                <a:ea typeface="Arial"/>
                <a:cs typeface="Arial"/>
              </a:rPr>
              <a:t>Five historical samples backed by primary research and exact IOCs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FFB40-9D61-4CF5-BE03-A9E1D27D53C0}"/>
              </a:ext>
            </a:extLst>
          </p:cNvPr>
          <p:cNvGraphicFramePr/>
          <p:nvPr/>
        </p:nvGraphicFramePr>
        <p:xfrm>
          <a:off xmlns:a="http://schemas.openxmlformats.org/drawingml/2006/main" x="723900" y="2209800"/>
          <a:ext xmlns:a="http://schemas.openxmlformats.org/drawingml/2006/main" cx="10668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619250"/>
                <a:gridCol w="6096000"/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2E9"/>
                          </a:solidFill>
                          <a:latin typeface="Arial"/>
                          <a:ea typeface="Arial"/>
                          <a:cs typeface="Arial"/>
                        </a:rPr>
                        <a:t>Application</a:t>
                      </a:r>
                    </a:p>
                  </a:txBody>
                  <a:tcPr marL="142875" marR="142875" marT="28575" marB="28575">
                    <a:solidFill>
                      <a:srgbClr val="1763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2E9"/>
                          </a:solidFill>
                          <a:latin typeface="Arial"/>
                          <a:ea typeface="Arial"/>
                          <a:cs typeface="Arial"/>
                        </a:rPr>
                        <a:t>Permissions</a:t>
                      </a:r>
                    </a:p>
                  </a:txBody>
                  <a:tcPr marL="142875" marR="142875" marT="28575" marB="28575">
                    <a:solidFill>
                      <a:srgbClr val="1763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2E9"/>
                          </a:solidFill>
                          <a:latin typeface="Arial"/>
                          <a:ea typeface="Arial"/>
                          <a:cs typeface="Arial"/>
                        </a:rPr>
                        <a:t>Source context</a:t>
                      </a:r>
                    </a:p>
                  </a:txBody>
                  <a:tcPr marL="142875" marR="142875" marT="28575" marB="28575">
                    <a:solidFill>
                      <a:srgbClr val="17634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Exodus spyware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Documented malicious sample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Fake MetaMask clipper</a:t>
                      </a:r>
                    </a:p>
                  </a:txBody>
                  <a:tcPr marL="142875" marR="142875" marT="28575" marB="28575"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42875" marR="142875" marT="28575" marB="28575"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Documented malicious sample</a:t>
                      </a:r>
                    </a:p>
                  </a:txBody>
                  <a:tcPr marL="142875" marR="142875" marT="28575" marB="28575">
                    <a:solidFill>
                      <a:srgbClr val="E5EFE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Fake BtcTurk phishing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Documented malicious sample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Fake BtcTurk beta</a:t>
                      </a:r>
                    </a:p>
                  </a:txBody>
                  <a:tcPr marL="142875" marR="142875" marT="28575" marB="28575"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42875" marR="142875" marT="28575" marB="28575"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Documented malicious sample</a:t>
                      </a:r>
                    </a:p>
                  </a:txBody>
                  <a:tcPr marL="142875" marR="142875" marT="28575" marB="28575">
                    <a:solidFill>
                      <a:srgbClr val="E5EFE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Fake Koineks phishing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D24"/>
                          </a:solidFill>
                          <a:latin typeface="Arial"/>
                          <a:ea typeface="Arial"/>
                          <a:cs typeface="Arial"/>
                        </a:rPr>
                        <a:t>Documented malicious sample</a:t>
                      </a:r>
                    </a:p>
                  </a:txBody>
                  <a:tcPr marL="142875" marR="142875" marT="28575" marB="28575">
                    <a:solidFill>
                      <a:srgbClr val="F3F2E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E7807-26BB-41F0-BEE5-A94D176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648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12D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12D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D24"/>
                </a:solidFill>
                <a:latin typeface="Arial"/>
                <a:ea typeface="Arial"/>
                <a:cs typeface="Arial"/>
              </a:rPr>
              <a:t>Fake BtcTurk: verified signature, zero sensitive manifest permissions.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88BBE-5245-478E-AC5F-5D6769D4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866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8665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65A"/>
                </a:solidFill>
                <a:latin typeface="Arial"/>
                <a:ea typeface="Arial"/>
                <a:cs typeface="Arial"/>
              </a:rPr>
              <a:t>Its ESET-backed phishing warning supplies the missing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B27F5-9270-4D9D-BB85-5D5DB1B1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1064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866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866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65A"/>
                </a:solidFill>
                <a:latin typeface="Arial"/>
                <a:ea typeface="Arial"/>
                <a:cs typeface="Arial"/>
              </a:rPr>
              <a:t>This evaluation demonstrates the flow, not detection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535588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63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470F3-0F2D-4B17-A7F5-08556F8C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66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00" b="0">
                <a:solidFill>
                  <a:srgbClr val="F3F2E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5400" b="0">
                <a:solidFill>
                  <a:srgbClr val="F3F2E9"/>
                </a:solidFill>
                <a:latin typeface="Georgia"/>
                <a:ea typeface="Georgia"/>
                <a:cs typeface="Georgia"/>
              </a:defRPr>
            </a:pPr>
            <a:r>
              <a:rPr sz="5400" b="0">
                <a:solidFill>
                  <a:srgbClr val="F3F2E9"/>
                </a:solidFill>
                <a:latin typeface="Georgia"/>
                <a:ea typeface="Georgia"/>
                <a:cs typeface="Georgia"/>
              </a:rPr>
              <a:t>Evidence before</a:t>
            </a:r>
          </a:p>
          <a:p xmlns:a="http://schemas.openxmlformats.org/drawingml/2006/main">
            <a:pPr>
              <a:defRPr sz="5400" b="0">
                <a:solidFill>
                  <a:srgbClr val="F3F2E9"/>
                </a:solidFill>
                <a:latin typeface="Georgia"/>
                <a:ea typeface="Georgia"/>
                <a:cs typeface="Georgia"/>
              </a:defRPr>
            </a:pPr>
            <a:r>
              <a:rPr sz="5400" b="0">
                <a:solidFill>
                  <a:srgbClr val="F3F2E9"/>
                </a:solidFill>
                <a:latin typeface="Georgia"/>
                <a:ea typeface="Georgia"/>
                <a:cs typeface="Georgia"/>
              </a:rPr>
              <a:t>installation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EA058-7C37-499C-B7A7-ABD7B0CD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648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F3F2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3F2E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3F2E9"/>
                </a:solidFill>
                <a:latin typeface="Arial"/>
                <a:ea typeface="Arial"/>
                <a:cs typeface="Arial"/>
              </a:rPr>
              <a:t>Try the live upload or explore twelve measured sample reports.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15A54-66FF-46F5-84E6-6C461E37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10648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F3F2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3F2E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2E9"/>
                </a:solidFill>
                <a:latin typeface="Arial"/>
                <a:ea typeface="Arial"/>
                <a:cs typeface="Arial"/>
              </a:rPr>
              <a:t>scamsignal.ajnasnb.com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24784-83A4-46CD-B5D2-096F1BB4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3F2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3F2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2E9"/>
                </a:solidFill>
                <a:latin typeface="Arial"/>
                <a:ea typeface="Arial"/>
                <a:cs typeface="Arial"/>
              </a:rPr>
              <a:t>Static findings cannot guarantee safety. Permissions show declared capabilities. New scans require the analysis service.</a:t>
            </a:r>
          </a:p>
        </p:txBody>
      </p:sp>
    </p:spTree>
    <p:extLst>
      <p:ext uri="{BB962C8B-B14F-4D97-AF65-F5344CB8AC3E}">
        <p14:creationId xmlns:p14="http://schemas.microsoft.com/office/powerpoint/2010/main" val="546310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2026-10-11T14:44:39.4810000Z</dcterms:created>
  <dcterms:modified xsi:type="dcterms:W3CDTF">2026-10-11T14:44:39.4810000Z</dcterms:modified>
</coreProperties>
</file>