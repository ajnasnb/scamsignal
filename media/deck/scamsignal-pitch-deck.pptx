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8cec9ecb37403d" /><Relationship Type="http://schemas.openxmlformats.org/officeDocument/2006/relationships/extended-properties" Target="/docProps/app.xml" Id="R0b0ea25c67df4030" /><Relationship Type="http://schemas.openxmlformats.org/officeDocument/2006/relationships/officeDocument" Target="/ppt/presentation.xml" Id="R3fec0ca71ecc4a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00ad1461574b90"/>
  </p:sldMasterIdLst>
  <p:notesMasterIdLst>
    <p:notesMasterId xmlns:r="http://schemas.openxmlformats.org/officeDocument/2006/relationships" r:id="R20057f65774e422e"/>
  </p:notesMasterIdLst>
  <p:sldIdLst>
    <p:sldId xmlns:r="http://schemas.openxmlformats.org/officeDocument/2006/relationships" id="256" r:id="Rf6d1a02ce21e4d54"/>
    <p:sldId xmlns:r="http://schemas.openxmlformats.org/officeDocument/2006/relationships" id="257" r:id="R05d1c674adfe4339"/>
    <p:sldId xmlns:r="http://schemas.openxmlformats.org/officeDocument/2006/relationships" id="258" r:id="R8a10464b3b77435e"/>
    <p:sldId xmlns:r="http://schemas.openxmlformats.org/officeDocument/2006/relationships" id="259" r:id="R0a2fb72b30df42f0"/>
    <p:sldId xmlns:r="http://schemas.openxmlformats.org/officeDocument/2006/relationships" id="260" r:id="R65e5dd38d1604cc2"/>
    <p:sldId xmlns:r="http://schemas.openxmlformats.org/officeDocument/2006/relationships" id="261" r:id="R1ce82d6966bf4c9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1622f9205614773" /><Relationship Type="http://schemas.openxmlformats.org/officeDocument/2006/relationships/slideMaster" Target="/ppt/slideMasters/slideMaster1.xml" Id="Rf700ad1461574b90" /><Relationship Type="http://schemas.openxmlformats.org/officeDocument/2006/relationships/notesMaster" Target="/ppt/notesMasters/notesMaster1.xml" Id="R20057f65774e422e" /><Relationship Type="http://schemas.openxmlformats.org/officeDocument/2006/relationships/presProps" Target="/ppt/presProps.xml" Id="Re352090d8ac44b97" /><Relationship Type="http://schemas.openxmlformats.org/officeDocument/2006/relationships/tableStyles" Target="/ppt/tableStyles.xml" Id="R22c4e965b0e54af5" /><Relationship Type="http://schemas.openxmlformats.org/officeDocument/2006/relationships/slide" Target="/ppt/slides/slide1.xml" Id="Rf6d1a02ce21e4d54" /><Relationship Type="http://schemas.openxmlformats.org/officeDocument/2006/relationships/slide" Target="/ppt/slides/slide2.xml" Id="R05d1c674adfe4339" /><Relationship Type="http://schemas.openxmlformats.org/officeDocument/2006/relationships/slide" Target="/ppt/slides/slide3.xml" Id="R8a10464b3b77435e" /><Relationship Type="http://schemas.openxmlformats.org/officeDocument/2006/relationships/slide" Target="/ppt/slides/slide4.xml" Id="R0a2fb72b30df42f0" /><Relationship Type="http://schemas.openxmlformats.org/officeDocument/2006/relationships/slide" Target="/ppt/slides/slide5.xml" Id="R65e5dd38d1604cc2" /><Relationship Type="http://schemas.openxmlformats.org/officeDocument/2006/relationships/slide" Target="/ppt/slides/slide6.xml" Id="R1ce82d6966bf4c9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4a2c3ade4144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342a27bf6c4bed" /><Relationship Type="http://schemas.openxmlformats.org/officeDocument/2006/relationships/notesMaster" Target="/ppt/notesMasters/notesMaster1.xml" Id="R32f0d24866aa4c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cf8e15679e434f" /><Relationship Type="http://schemas.openxmlformats.org/officeDocument/2006/relationships/notesMaster" Target="/ppt/notesMasters/notesMaster1.xml" Id="R1faa5105209847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231180023540ea" /><Relationship Type="http://schemas.openxmlformats.org/officeDocument/2006/relationships/notesMaster" Target="/ppt/notesMasters/notesMaster1.xml" Id="R83d53a1d5c7242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b54692c79748a4" /><Relationship Type="http://schemas.openxmlformats.org/officeDocument/2006/relationships/notesMaster" Target="/ppt/notesMasters/notesMaster1.xml" Id="R0e0e492188e044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605c0b3ac54579" /><Relationship Type="http://schemas.openxmlformats.org/officeDocument/2006/relationships/notesMaster" Target="/ppt/notesMasters/notesMaster1.xml" Id="Rc0ade4c34bde44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11a0ba838c45c9" /><Relationship Type="http://schemas.openxmlformats.org/officeDocument/2006/relationships/notesMaster" Target="/ppt/notesMasters/notesMaster1.xml" Id="R09be8851bc024b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implementation brief. Artwork generated with OpenAI image generation. Static analysis cannot establish safety.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Intended consumer scenario. No measured adoption or fraud-reduction claims. Hindi permission explanations are implemented in scanner/evaluation.json. Artwork is a generated illustration, not a photograph of a real event.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Android apksigner documentation https://developer.android.com/tools/apksigner . Arkiv system attributes and creator filtering https://docs.arkiv.network/typescript-sdk/querying-data/ . The project uses a documented reviewer allowlist; blockchain authorship alone does not establish reviewer expertise.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Arkiv network fundamentals https://docs.arkiv.network/start-here/fundamentals/ . This describes existing public-record reads independent of the ScamSignal analysis backend. New scans still require analysis service availability. Artwork is generated.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scanner/evaluation.json, evaluated 2026-10-11. Androguard 4.1.4 and Android Build Tools 35.0.0. APKs were not installed or executed. Three upstream open source releases plus two intentionally insecure training apps. Release URLs: https://github.com/Kunzisoft/KeePassDX/releases/tag/4.5.5</a:t>
            </a:r>
          </a:p>
          <a:p xmlns:a="http://schemas.openxmlformats.org/drawingml/2006/main">
            <a:r>
              <a:t>https://github.com/beemdevelopment/Aegis/releases/tag/v3.4.3</a:t>
            </a:r>
          </a:p>
          <a:p xmlns:a="http://schemas.openxmlformats.org/drawingml/2006/main">
            <a:r>
              <a:t>https://github.com/TeamNewPipe/NewPipe/releases/tag/v0.29.1</a:t>
            </a:r>
          </a:p>
          <a:p xmlns:a="http://schemas.openxmlformats.org/drawingml/2006/main">
            <a:r>
              <a:t>https://github.com/dineshshetty/Android-InsecureBankv2/tree/3c8cc3a3ce45ed56d0f58f236b541b41f992e51f</a:t>
            </a:r>
          </a:p>
          <a:p xmlns:a="http://schemas.openxmlformats.org/drawingml/2006/main">
            <a:r>
              <a:t>https://github.com/HTBridge/pivaa/tree/7fde8956083ec4c6023c75f013f72023d60eda12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limitations are derived from the scanner coverage in scanner/evaluation.json. No detection-accuracy claim. Public records remain readable independently of our analysis backend when Arkiv is available.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588b87ca5b448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d484a406214d3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c62877617146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afdc33eacb4dd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ed231383e048b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ed9312c611420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21DFBC-2CB1-457D-8A5D-6A35754CAA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1806B68-0940-42AF-A1CB-C888DB01C87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C6600B5-4433-4193-9862-2B5D840E73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E396C0-EEE9-44DB-A8CB-F1275ED783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E15C023-843F-4696-9323-126CD3414C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B3D26EB-00C9-4065-82EC-8E982F5327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74F81DD-3D13-4B90-9FD8-1555F49807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11C198E-2241-429E-9047-BFDF1023BB5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EB4BA4-2C45-4D79-A0BF-572C6DAF74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503E305-CB3B-44F1-B182-23FE4CD87B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4b4a807abe45cf" /><Relationship Type="http://schemas.openxmlformats.org/officeDocument/2006/relationships/slideLayout" Target="/ppt/slideLayouts/slideLayout1.xml" Id="Rf4259bd05bd14b15" /><Relationship Type="http://schemas.openxmlformats.org/officeDocument/2006/relationships/slideLayout" Target="/ppt/slideLayouts/slideLayout2.xml" Id="R8f9f8f5aec1e4190" /><Relationship Type="http://schemas.openxmlformats.org/officeDocument/2006/relationships/slideLayout" Target="/ppt/slideLayouts/slideLayout3.xml" Id="R68637c0a5bae4cad" /><Relationship Type="http://schemas.openxmlformats.org/officeDocument/2006/relationships/slideLayout" Target="/ppt/slideLayouts/slideLayout4.xml" Id="R13f43407ecb54d11" /><Relationship Type="http://schemas.openxmlformats.org/officeDocument/2006/relationships/slideLayout" Target="/ppt/slideLayouts/slideLayout5.xml" Id="Rbd488a82341645d3" /><Relationship Type="http://schemas.openxmlformats.org/officeDocument/2006/relationships/slideLayout" Target="/ppt/slideLayouts/slideLayout6.xml" Id="R4e2007cfe25249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259bd05bd14b15"/>
    <p:sldLayoutId xmlns:r="http://schemas.openxmlformats.org/officeDocument/2006/relationships" id="2147483650" r:id="R8f9f8f5aec1e4190"/>
    <p:sldLayoutId xmlns:r="http://schemas.openxmlformats.org/officeDocument/2006/relationships" id="2147483651" r:id="R68637c0a5bae4cad"/>
    <p:sldLayoutId xmlns:r="http://schemas.openxmlformats.org/officeDocument/2006/relationships" id="2147483652" r:id="R13f43407ecb54d11"/>
    <p:sldLayoutId xmlns:r="http://schemas.openxmlformats.org/officeDocument/2006/relationships" id="2147483653" r:id="Rbd488a82341645d3"/>
    <p:sldLayoutId xmlns:r="http://schemas.openxmlformats.org/officeDocument/2006/relationships" id="2147483654" r:id="R4e2007cfe25249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0b07ab7f904dde" /><Relationship Type="http://schemas.openxmlformats.org/officeDocument/2006/relationships/image" Target="/ppt/media/image.png" Id="Rb728a3da55844784" /><Relationship Type="http://schemas.openxmlformats.org/officeDocument/2006/relationships/image" Target="/ppt/media/image2.png" Id="Rfe119aef4cad4b24" /><Relationship Type="http://schemas.openxmlformats.org/officeDocument/2006/relationships/notesSlide" Target="/ppt/notesSlides/notesSlide1.xml" Id="R42406884a10e41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f99b3b42fd4b01" /><Relationship Type="http://schemas.openxmlformats.org/officeDocument/2006/relationships/image" Target="/ppt/media/image3.png" Id="R0e8d0092edb84d1a" /><Relationship Type="http://schemas.openxmlformats.org/officeDocument/2006/relationships/notesSlide" Target="/ppt/notesSlides/notesSlide2.xml" Id="Rf28aa086217f4c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eb15f9b5ca4773" /><Relationship Type="http://schemas.openxmlformats.org/officeDocument/2006/relationships/notesSlide" Target="/ppt/notesSlides/notesSlide3.xml" Id="R1c60fddae35e4d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ccb52f4f604a0f" /><Relationship Type="http://schemas.openxmlformats.org/officeDocument/2006/relationships/image" Target="/ppt/media/image4.png" Id="R6b8d6f1077944f15" /><Relationship Type="http://schemas.openxmlformats.org/officeDocument/2006/relationships/notesSlide" Target="/ppt/notesSlides/notesSlide4.xml" Id="Rc6220e829fdc42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e24882b2804e8d" /><Relationship Type="http://schemas.openxmlformats.org/officeDocument/2006/relationships/notesSlide" Target="/ppt/notesSlides/notesSlide5.xml" Id="R428ecf0c3a4142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b947b1735542d5" /><Relationship Type="http://schemas.openxmlformats.org/officeDocument/2006/relationships/notesSlide" Target="/ppt/notesSlides/notesSlide6.xml" Id="Re6a6d66945dc42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CA4BBE-3C17-433E-9709-FAFBBAE097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28a3da55844784"/>
          <a:srcRect xmlns:a="http://schemas.openxmlformats.org/drawingml/2006/main" l="27" t="0" r="2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ADCC0F-834A-4AF4-BBF7-CEBEE41E50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119aef4cad4b24"/>
          <a:stretch xmlns:a="http://schemas.openxmlformats.org/drawingml/2006/main"/>
        </p:blipFill>
        <p:spPr>
          <a:xfrm xmlns:a="http://schemas.openxmlformats.org/drawingml/2006/main">
            <a:off x="628650" y="476250"/>
            <a:ext cx="523875" cy="5238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9AE9A6-7A13-45E7-8E66-22E0D098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9700"/>
            <a:ext cx="5810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550" b="0">
                <a:solidFill>
                  <a:srgbClr val="17634C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defRPr sz="5550" b="0">
                <a:solidFill>
                  <a:srgbClr val="17634C"/>
                </a:solidFill>
                <a:latin typeface="Georgia"/>
                <a:ea typeface="Georgia"/>
                <a:cs typeface="Georgia"/>
              </a:defRPr>
            </a:pPr>
            <a:r>
              <a:rPr sz="5550" b="0">
                <a:solidFill>
                  <a:srgbClr val="17634C"/>
                </a:solidFill>
                <a:latin typeface="Georgia"/>
                <a:ea typeface="Georgia"/>
                <a:cs typeface="Georgia"/>
              </a:rPr>
              <a:t>ScamSignal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D79EB-66A6-4DAB-B5F2-1B4B7832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5429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0">
                <a:solidFill>
                  <a:srgbClr val="112D24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12D24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2D24"/>
                </a:solidFill>
                <a:latin typeface="Georgia"/>
                <a:ea typeface="Georgia"/>
                <a:cs typeface="Georgia"/>
              </a:rPr>
              <a:t>+ AppPassport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4AAF0-0757-4FF7-91AE-33CE327A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45720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85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Understand an APK</a:t>
            </a:r>
          </a:p>
          <a:p xmlns:a="http://schemas.openxmlformats.org/drawingml/2006/main">
            <a:pPr>
              <a:defRPr sz="285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before installing 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28F13-125A-434B-B11B-E505EC8A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91225"/>
            <a:ext cx="714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0">
                <a:solidFill>
                  <a:srgbClr val="4866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48665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8665A"/>
                </a:solidFill>
                <a:latin typeface="Arial"/>
                <a:ea typeface="Arial"/>
                <a:cs typeface="Arial"/>
              </a:rPr>
              <a:t>Android APK analysis with shared public evidence</a:t>
            </a:r>
          </a:p>
        </p:txBody>
      </p:sp>
    </p:spTree>
    <p:extLst>
      <p:ext uri="{BB962C8B-B14F-4D97-AF65-F5344CB8AC3E}">
        <p14:creationId xmlns:p14="http://schemas.microsoft.com/office/powerpoint/2010/main" val="19864840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1A358F-46A7-465C-AE53-CC1259877B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d0092edb84d1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B7FD6-214A-4910-A1D7-3E1458C6D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4714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0">
                <a:solidFill>
                  <a:srgbClr val="17634C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defRPr sz="4050" b="0">
                <a:solidFill>
                  <a:srgbClr val="17634C"/>
                </a:solidFill>
                <a:latin typeface="Georgia"/>
                <a:ea typeface="Georgia"/>
                <a:cs typeface="Georgia"/>
              </a:defRPr>
            </a:pPr>
            <a:r>
              <a:rPr sz="4050" b="0">
                <a:solidFill>
                  <a:srgbClr val="17634C"/>
                </a:solidFill>
                <a:latin typeface="Georgia"/>
                <a:ea typeface="Georgia"/>
                <a:cs typeface="Georgia"/>
              </a:rPr>
              <a:t>A useful pause</a:t>
            </a:r>
          </a:p>
          <a:p xmlns:a="http://schemas.openxmlformats.org/drawingml/2006/main">
            <a:pPr>
              <a:defRPr sz="4050" b="0">
                <a:solidFill>
                  <a:srgbClr val="17634C"/>
                </a:solidFill>
                <a:latin typeface="Georgia"/>
                <a:ea typeface="Georgia"/>
                <a:cs typeface="Georgia"/>
              </a:defRPr>
            </a:pPr>
            <a:r>
              <a:rPr sz="4050" b="0">
                <a:solidFill>
                  <a:srgbClr val="17634C"/>
                </a:solidFill>
                <a:latin typeface="Georgia"/>
                <a:ea typeface="Georgia"/>
                <a:cs typeface="Georgia"/>
              </a:rPr>
              <a:t>for India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0C87B-FAF6-4E51-BDF5-0D2A9721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42005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Someone sends you an APK.</a:t>
            </a:r>
          </a:p>
          <a:p xmlns:a="http://schemas.openxmlformats.org/drawingml/2006/main">
            <a:pPr>
              <a:defRPr sz="210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You want evidence before installing.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9BA66A-665A-48A5-B40B-94A50A74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1763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634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634C"/>
                </a:solidFill>
                <a:latin typeface="Arial"/>
                <a:ea typeface="Arial"/>
                <a:cs typeface="Arial"/>
              </a:rPr>
              <a:t>Upload from your phone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12BEDA-D393-4BBA-8958-1D2F7039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42576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Read signature and permission findings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15FB46-94D6-464F-84E0-97922EB1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41814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Compare the release and review warnings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00D7CD-4BCA-4BAE-9EEE-3DE1A9EC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72200"/>
            <a:ext cx="41719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English + Hindi. No wallet or fee.</a:t>
            </a:r>
          </a:p>
        </p:txBody>
      </p:sp>
    </p:spTree>
    <p:extLst>
      <p:ext uri="{BB962C8B-B14F-4D97-AF65-F5344CB8AC3E}">
        <p14:creationId xmlns:p14="http://schemas.microsoft.com/office/powerpoint/2010/main" val="6694662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634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0BCE21-3E3F-4607-A4AF-AAFCD51F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900" b="0">
                <a:solidFill>
                  <a:srgbClr val="F3F2E9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defRPr sz="3900" b="0">
                <a:solidFill>
                  <a:srgbClr val="F3F2E9"/>
                </a:solidFill>
                <a:latin typeface="Georgia"/>
                <a:ea typeface="Georgia"/>
                <a:cs typeface="Georgia"/>
              </a:defRPr>
            </a:pPr>
            <a:r>
              <a:rPr sz="3900" b="0">
                <a:solidFill>
                  <a:srgbClr val="F3F2E9"/>
                </a:solidFill>
                <a:latin typeface="Georgia"/>
                <a:ea typeface="Georgia"/>
                <a:cs typeface="Georgia"/>
              </a:rPr>
              <a:t>Evidence has different jobs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C5F14-19A4-4AB0-84A6-00A201A7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4572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0">
                <a:solidFill>
                  <a:srgbClr val="F3F2E9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F3F2E9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F3F2E9"/>
                </a:solidFill>
                <a:latin typeface="Georgia"/>
                <a:ea typeface="Georgia"/>
                <a:cs typeface="Georgia"/>
              </a:rPr>
              <a:t>APK identity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BF80A-9A09-488E-806A-B473974F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44767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F3F2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3F2E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3F2E9"/>
                </a:solidFill>
                <a:latin typeface="Arial"/>
                <a:ea typeface="Arial"/>
                <a:cs typeface="Arial"/>
              </a:rPr>
              <a:t>Verify the signature. Compare the file hash and signing identity with a reviewed release reference.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D92BB6-A666-4BFE-A013-883D22D7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19300"/>
            <a:ext cx="4667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0">
                <a:solidFill>
                  <a:srgbClr val="F3F2E9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F3F2E9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F3F2E9"/>
                </a:solidFill>
                <a:latin typeface="Georgia"/>
                <a:ea typeface="Georgia"/>
                <a:cs typeface="Georgia"/>
              </a:rPr>
              <a:t>Warning authorship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51DE7A-0DFC-4507-BC17-C703BD90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33700"/>
            <a:ext cx="4448175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F3F2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3F2E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3F2E9"/>
                </a:solidFill>
                <a:latin typeface="Arial"/>
                <a:ea typeface="Arial"/>
                <a:cs typeface="Arial"/>
              </a:rPr>
              <a:t>Check the Arkiv record’s actual wallet creator against the reviewer policy. A copied name earns no trust.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86C70-32FD-400D-93A9-E560D911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34050"/>
            <a:ext cx="10572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F3F2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F3F2E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3F2E9"/>
                </a:solidFill>
                <a:latin typeface="Arial"/>
                <a:ea typeface="Arial"/>
                <a:cs typeface="Arial"/>
              </a:rPr>
              <a:t>A valid signature does not establish safety</a:t>
            </a:r>
          </a:p>
        </p:txBody>
      </p:sp>
    </p:spTree>
    <p:extLst>
      <p:ext uri="{BB962C8B-B14F-4D97-AF65-F5344CB8AC3E}">
        <p14:creationId xmlns:p14="http://schemas.microsoft.com/office/powerpoint/2010/main" val="5393438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BA575B-914F-464F-ACB4-709BFC4F16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d6f1077944f1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84ED4-3E6F-4352-9012-92DC1BFA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"/>
            <a:ext cx="5619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0">
                <a:solidFill>
                  <a:srgbClr val="17634C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defRPr sz="4200" b="0">
                <a:solidFill>
                  <a:srgbClr val="17634C"/>
                </a:solidFill>
                <a:latin typeface="Georgia"/>
                <a:ea typeface="Georgia"/>
                <a:cs typeface="Georgia"/>
              </a:defRPr>
            </a:pPr>
            <a:r>
              <a:rPr sz="4200" b="0">
                <a:solidFill>
                  <a:srgbClr val="17634C"/>
                </a:solidFill>
                <a:latin typeface="Georgia"/>
                <a:ea typeface="Georgia"/>
                <a:cs typeface="Georgia"/>
              </a:rPr>
              <a:t>Useful beyond</a:t>
            </a:r>
          </a:p>
          <a:p xmlns:a="http://schemas.openxmlformats.org/drawingml/2006/main">
            <a:pPr>
              <a:defRPr sz="4200" b="0">
                <a:solidFill>
                  <a:srgbClr val="17634C"/>
                </a:solidFill>
                <a:latin typeface="Georgia"/>
                <a:ea typeface="Georgia"/>
                <a:cs typeface="Georgia"/>
              </a:defRPr>
            </a:pPr>
            <a:r>
              <a:rPr sz="4200" b="0">
                <a:solidFill>
                  <a:srgbClr val="17634C"/>
                </a:solidFill>
                <a:latin typeface="Georgia"/>
                <a:ea typeface="Georgia"/>
                <a:cs typeface="Georgia"/>
              </a:rPr>
              <a:t>one website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ADA66D-D6C8-44F7-BC4D-E8A217EC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43338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Arkiv holds release references</a:t>
            </a:r>
          </a:p>
          <a:p xmlns:a="http://schemas.openxmlformats.org/drawingml/2006/main">
            <a:pPr>
              <a:defRPr sz="225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and public reviewer warnings.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9EA58B-716C-4F51-A1B8-5EDAD96C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45243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Independent clients can read</a:t>
            </a:r>
          </a:p>
          <a:p xmlns:a="http://schemas.openxmlformats.org/drawingml/2006/main">
            <a:pPr>
              <a:defRPr sz="2250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the same author-checked records.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5D75B-D2A3-4972-9FE4-D389BB13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67375"/>
            <a:ext cx="47720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4866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8665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8665A"/>
                </a:solidFill>
                <a:latin typeface="Arial"/>
                <a:ea typeface="Arial"/>
                <a:cs typeface="Arial"/>
              </a:rPr>
              <a:t>Raw APK uploads stay outside Arkiv.</a:t>
            </a:r>
          </a:p>
        </p:txBody>
      </p:sp>
    </p:spTree>
    <p:extLst>
      <p:ext uri="{BB962C8B-B14F-4D97-AF65-F5344CB8AC3E}">
        <p14:creationId xmlns:p14="http://schemas.microsoft.com/office/powerpoint/2010/main" val="5223309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C0C646-027E-4FD6-9131-75DB3D04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6680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900" b="0">
                <a:solidFill>
                  <a:srgbClr val="17634C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defRPr sz="3900" b="0">
                <a:solidFill>
                  <a:srgbClr val="17634C"/>
                </a:solidFill>
                <a:latin typeface="Georgia"/>
                <a:ea typeface="Georgia"/>
                <a:cs typeface="Georgia"/>
              </a:defRPr>
            </a:pPr>
            <a:r>
              <a:rPr sz="3900" b="0">
                <a:solidFill>
                  <a:srgbClr val="17634C"/>
                </a:solidFill>
                <a:latin typeface="Georgia"/>
                <a:ea typeface="Georgia"/>
                <a:cs typeface="Georgia"/>
              </a:rPr>
              <a:t>Five public APKs tested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0B4675-47E8-453C-A570-A220C170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1">
                <a:solidFill>
                  <a:srgbClr val="112D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2D24"/>
                </a:solidFill>
                <a:latin typeface="Arial"/>
                <a:ea typeface="Arial"/>
                <a:cs typeface="Arial"/>
              </a:rPr>
              <a:t>Every sample passed signature verification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C24011-29DC-4BD7-A5DA-077F76A3EB2A}"/>
              </a:ext>
            </a:extLst>
          </p:cNvPr>
          <p:cNvGraphicFramePr/>
          <p:nvPr/>
        </p:nvGraphicFramePr>
        <p:xfrm>
          <a:off xmlns:a="http://schemas.openxmlformats.org/drawingml/2006/main" x="723900" y="2362200"/>
          <a:ext xmlns:a="http://schemas.openxmlformats.org/drawingml/2006/main" cx="106680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52700"/>
                <a:gridCol w="1905000"/>
                <a:gridCol w="6210300"/>
              </a:tblGrid>
              <a:tr h="476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3F2E9"/>
                          </a:solidFill>
                          <a:latin typeface="Arial"/>
                          <a:ea typeface="Arial"/>
                          <a:cs typeface="Arial"/>
                        </a:rPr>
                        <a:t>Application</a:t>
                      </a:r>
                    </a:p>
                  </a:txBody>
                  <a:tcPr marL="142875" marR="142875" marT="57150" marB="57150">
                    <a:solidFill>
                      <a:srgbClr val="1763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3F2E9"/>
                          </a:solidFill>
                          <a:latin typeface="Arial"/>
                          <a:ea typeface="Arial"/>
                          <a:cs typeface="Arial"/>
                        </a:rPr>
                        <a:t>Permissions</a:t>
                      </a:r>
                    </a:p>
                  </a:txBody>
                  <a:tcPr marL="142875" marR="142875" marT="57150" marB="57150">
                    <a:solidFill>
                      <a:srgbClr val="1763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3F2E9"/>
                          </a:solidFill>
                          <a:latin typeface="Arial"/>
                          <a:ea typeface="Arial"/>
                          <a:cs typeface="Arial"/>
                        </a:rPr>
                        <a:t>Static findings</a:t>
                      </a:r>
                    </a:p>
                  </a:txBody>
                  <a:tcPr marL="142875" marR="142875" marT="57150" marB="57150">
                    <a:solidFill>
                      <a:srgbClr val="17634C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KeePassDX</a:t>
                      </a:r>
                    </a:p>
                  </a:txBody>
                  <a:tcPr marL="142875" marR="142875" marT="57150" marB="57150">
                    <a:solidFill>
                      <a:srgbClr val="F3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142875" marR="142875" marT="57150" marB="57150">
                    <a:solidFill>
                      <a:srgbClr val="F3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No listed indicators</a:t>
                      </a:r>
                    </a:p>
                  </a:txBody>
                  <a:tcPr marL="142875" marR="142875" marT="57150" marB="57150">
                    <a:solidFill>
                      <a:srgbClr val="F3F2E9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Aegis</a:t>
                      </a:r>
                    </a:p>
                  </a:txBody>
                  <a:tcPr marL="142875" marR="142875" marT="57150" marB="57150"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142875" marR="142875" marT="57150" marB="57150"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Sensitive capabilities</a:t>
                      </a:r>
                    </a:p>
                  </a:txBody>
                  <a:tcPr marL="142875" marR="142875" marT="57150" marB="57150">
                    <a:solidFill>
                      <a:srgbClr val="E5EFE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NewPipe</a:t>
                      </a:r>
                    </a:p>
                  </a:txBody>
                  <a:tcPr marL="142875" marR="142875" marT="57150" marB="57150">
                    <a:solidFill>
                      <a:srgbClr val="F3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142875" marR="142875" marT="57150" marB="57150">
                    <a:solidFill>
                      <a:srgbClr val="F3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Sensitive capabilities</a:t>
                      </a:r>
                    </a:p>
                  </a:txBody>
                  <a:tcPr marL="142875" marR="142875" marT="57150" marB="57150">
                    <a:solidFill>
                      <a:srgbClr val="F3F2E9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InsecureBankv2</a:t>
                      </a:r>
                    </a:p>
                  </a:txBody>
                  <a:tcPr marL="142875" marR="142875" marT="57150" marB="57150"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142875" marR="142875" marT="57150" marB="57150"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Debuggable, older target SDK</a:t>
                      </a:r>
                    </a:p>
                  </a:txBody>
                  <a:tcPr marL="142875" marR="142875" marT="57150" marB="57150">
                    <a:solidFill>
                      <a:srgbClr val="E5EFE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PIVAA</a:t>
                      </a:r>
                    </a:p>
                  </a:txBody>
                  <a:tcPr marL="142875" marR="142875" marT="57150" marB="57150">
                    <a:solidFill>
                      <a:srgbClr val="F3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142875" marR="142875" marT="57150" marB="57150">
                    <a:solidFill>
                      <a:srgbClr val="F3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2D24"/>
                          </a:solidFill>
                          <a:latin typeface="Arial"/>
                          <a:ea typeface="Arial"/>
                          <a:cs typeface="Arial"/>
                        </a:rPr>
                        <a:t>Debuggable, older target SDK</a:t>
                      </a:r>
                    </a:p>
                  </a:txBody>
                  <a:tcPr marL="142875" marR="142875" marT="57150" marB="57150">
                    <a:solidFill>
                      <a:srgbClr val="F3F2E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FD57F-CE80-4F45-B0D5-B1F23206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10648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866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866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65A"/>
                </a:solidFill>
                <a:latin typeface="Arial"/>
                <a:ea typeface="Arial"/>
                <a:cs typeface="Arial"/>
              </a:rPr>
              <a:t>InsecureBank and PIVAA are intentionally insecure training apps.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4834BD-1200-4924-8694-9515507A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05525"/>
            <a:ext cx="10648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12D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2D24"/>
                </a:solidFill>
                <a:latin typeface="Arial"/>
                <a:ea typeface="Arial"/>
                <a:cs typeface="Arial"/>
              </a:rPr>
              <a:t>These samples validate integration behavior, not detection accuracy.</a:t>
            </a:r>
          </a:p>
        </p:txBody>
      </p:sp>
    </p:spTree>
    <p:extLst>
      <p:ext uri="{BB962C8B-B14F-4D97-AF65-F5344CB8AC3E}">
        <p14:creationId xmlns:p14="http://schemas.microsoft.com/office/powerpoint/2010/main" val="10597849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7634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FEBA71-DE15-44DD-BF67-3A17A479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"/>
            <a:ext cx="106680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400" b="0">
                <a:solidFill>
                  <a:srgbClr val="F3F2E9"/>
                </a:solidFill>
                <a:latin typeface="Georgia"/>
                <a:ea typeface="Georgia"/>
                <a:cs typeface="Georgia"/>
              </a:defRPr>
            </a:defPPr>
          </a:lstStyle>
          <a:p xmlns:a="http://schemas.openxmlformats.org/drawingml/2006/main">
            <a:pPr>
              <a:defRPr sz="5400" b="0">
                <a:solidFill>
                  <a:srgbClr val="F3F2E9"/>
                </a:solidFill>
                <a:latin typeface="Georgia"/>
                <a:ea typeface="Georgia"/>
                <a:cs typeface="Georgia"/>
              </a:defRPr>
            </a:pPr>
            <a:r>
              <a:rPr sz="5400" b="0">
                <a:solidFill>
                  <a:srgbClr val="F3F2E9"/>
                </a:solidFill>
                <a:latin typeface="Georgia"/>
                <a:ea typeface="Georgia"/>
                <a:cs typeface="Georgia"/>
              </a:rPr>
              <a:t>Evidence before</a:t>
            </a:r>
          </a:p>
          <a:p xmlns:a="http://schemas.openxmlformats.org/drawingml/2006/main">
            <a:pPr>
              <a:defRPr sz="5400" b="0">
                <a:solidFill>
                  <a:srgbClr val="F3F2E9"/>
                </a:solidFill>
                <a:latin typeface="Georgia"/>
                <a:ea typeface="Georgia"/>
                <a:cs typeface="Georgia"/>
              </a:defRPr>
            </a:pPr>
            <a:r>
              <a:rPr sz="5400" b="0">
                <a:solidFill>
                  <a:srgbClr val="F3F2E9"/>
                </a:solidFill>
                <a:latin typeface="Georgia"/>
                <a:ea typeface="Georgia"/>
                <a:cs typeface="Georgia"/>
              </a:rPr>
              <a:t>installation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21BC9-AED3-4F62-84B3-F20EF0E0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9925"/>
            <a:ext cx="106489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0">
                <a:solidFill>
                  <a:srgbClr val="F3F2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F3F2E9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F3F2E9"/>
                </a:solidFill>
                <a:latin typeface="Arial"/>
                <a:ea typeface="Arial"/>
                <a:cs typeface="Arial"/>
              </a:rPr>
              <a:t>Try the upload flow or explore the five sample reports.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7B0C27-7E7D-4CCC-888C-54E8136B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52900"/>
            <a:ext cx="10648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1">
                <a:solidFill>
                  <a:srgbClr val="F3F2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F3F2E9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2E9"/>
                </a:solidFill>
                <a:latin typeface="Arial"/>
                <a:ea typeface="Arial"/>
                <a:cs typeface="Arial"/>
              </a:rPr>
              <a:t>scamsignal.ajnasnb.com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E929B-DABC-4B03-8026-201F99D0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05450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F3F2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3F2E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3F2E9"/>
                </a:solidFill>
                <a:latin typeface="Arial"/>
                <a:ea typeface="Arial"/>
                <a:cs typeface="Arial"/>
              </a:rPr>
              <a:t>Static findings cannot guarantee safety. Permissions show declared capabilities. New scans require the analysis service.</a:t>
            </a:r>
          </a:p>
        </p:txBody>
      </p:sp>
    </p:spTree>
    <p:extLst>
      <p:ext uri="{BB962C8B-B14F-4D97-AF65-F5344CB8AC3E}">
        <p14:creationId xmlns:p14="http://schemas.microsoft.com/office/powerpoint/2010/main" val="2691723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2026-10-11T14:01:05.2470000Z</dcterms:created>
  <dcterms:modified xsi:type="dcterms:W3CDTF">2026-10-11T14:01:05.2470000Z</dcterms:modified>
</coreProperties>
</file>